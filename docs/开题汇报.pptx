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0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71" r:id="rId4"/>
    <p:sldId id="258" r:id="rId5"/>
    <p:sldId id="269" r:id="rId6"/>
    <p:sldId id="266" r:id="rId7"/>
    <p:sldId id="261" r:id="rId9"/>
    <p:sldId id="273" r:id="rId10"/>
  </p:sldIdLst>
  <p:sldSz cx="12382500" cy="89281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7A1"/>
    <a:srgbClr val="1A4B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55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88924" y="1143000"/>
            <a:ext cx="428015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图</a:t>
            </a:r>
            <a:r>
              <a:rPr lang="en-US" altLang="zh-CN"/>
              <a:t>—</a:t>
            </a:r>
            <a:r>
              <a:rPr lang="zh-CN" altLang="en-US"/>
              <a:t>章节速查映射</a:t>
            </a:r>
            <a:endParaRPr lang="zh-CN" altLang="en-US"/>
          </a:p>
          <a:p>
            <a:r>
              <a:rPr lang="en-US" altLang="zh-CN"/>
              <a:t>Data Sources </a:t>
            </a:r>
            <a:r>
              <a:rPr lang="en-US" altLang="en-US"/>
              <a:t>→</a:t>
            </a:r>
            <a:r>
              <a:rPr lang="en-US" altLang="zh-CN"/>
              <a:t> Sec. 2</a:t>
            </a:r>
            <a:r>
              <a:rPr lang="zh-CN" altLang="en-US"/>
              <a:t>（</a:t>
            </a:r>
            <a:r>
              <a:rPr lang="en-US" altLang="zh-CN"/>
              <a:t>2.1/2.3 </a:t>
            </a:r>
            <a:r>
              <a:rPr lang="zh-CN" altLang="en-US"/>
              <a:t>所需外部数据）</a:t>
            </a:r>
            <a:endParaRPr lang="zh-CN" altLang="en-US"/>
          </a:p>
          <a:p>
            <a:r>
              <a:rPr lang="en-US" altLang="zh-CN"/>
              <a:t>Paper/Reviewer Info </a:t>
            </a:r>
            <a:r>
              <a:rPr lang="en-US" altLang="en-US"/>
              <a:t>→</a:t>
            </a:r>
            <a:r>
              <a:rPr lang="en-US" altLang="zh-CN"/>
              <a:t> Sec. 2</a:t>
            </a:r>
            <a:r>
              <a:rPr lang="zh-CN" altLang="en-US"/>
              <a:t>（输入字段）</a:t>
            </a:r>
            <a:endParaRPr lang="zh-CN" altLang="en-US"/>
          </a:p>
          <a:p>
            <a:r>
              <a:rPr lang="en-US" altLang="zh-CN"/>
              <a:t>COI System</a:t>
            </a:r>
            <a:r>
              <a:rPr lang="zh-CN" altLang="en-US"/>
              <a:t>（</a:t>
            </a:r>
            <a:r>
              <a:rPr lang="en-US" altLang="zh-CN"/>
              <a:t>Filtering Malicious Data</a:t>
            </a:r>
            <a:r>
              <a:rPr lang="zh-CN" altLang="en-US"/>
              <a:t>）</a:t>
            </a:r>
            <a:r>
              <a:rPr lang="en-US" altLang="en-US"/>
              <a:t>→</a:t>
            </a:r>
            <a:r>
              <a:rPr lang="en-US" altLang="zh-CN"/>
              <a:t> Sec. 2.1</a:t>
            </a:r>
            <a:endParaRPr lang="en-US" altLang="zh-CN"/>
          </a:p>
          <a:p>
            <a:r>
              <a:rPr lang="en-US" altLang="zh-CN"/>
              <a:t>Filter Bids </a:t>
            </a:r>
            <a:r>
              <a:rPr lang="en-US" altLang="en-US"/>
              <a:t>→</a:t>
            </a:r>
            <a:r>
              <a:rPr lang="en-US" altLang="zh-CN"/>
              <a:t> Sec. 2.2</a:t>
            </a:r>
            <a:endParaRPr lang="en-US" altLang="zh-CN"/>
          </a:p>
          <a:p>
            <a:r>
              <a:rPr lang="en-US" altLang="zh-CN"/>
              <a:t>ACL/TPMS/SAM </a:t>
            </a:r>
            <a:r>
              <a:rPr lang="en-US" altLang="en-US"/>
              <a:t>→</a:t>
            </a:r>
            <a:r>
              <a:rPr lang="en-US" altLang="zh-CN"/>
              <a:t> Sec. 2.3.1–2.3.3</a:t>
            </a:r>
            <a:endParaRPr lang="en-US" altLang="zh-CN"/>
          </a:p>
          <a:p>
            <a:r>
              <a:rPr lang="en-US" altLang="zh-CN"/>
              <a:t>Bid Exponentiation </a:t>
            </a:r>
            <a:r>
              <a:rPr lang="en-US" altLang="en-US"/>
              <a:t>→</a:t>
            </a:r>
            <a:r>
              <a:rPr lang="en-US" altLang="zh-CN"/>
              <a:t> Sec. 2.3.4</a:t>
            </a:r>
            <a:r>
              <a:rPr lang="zh-CN" altLang="en-US"/>
              <a:t>；</a:t>
            </a:r>
            <a:r>
              <a:rPr lang="en-US" altLang="zh-CN"/>
              <a:t>Low‑score Cleanup </a:t>
            </a:r>
            <a:r>
              <a:rPr lang="en-US" altLang="en-US"/>
              <a:t>→</a:t>
            </a:r>
            <a:r>
              <a:rPr lang="en-US" altLang="zh-CN"/>
              <a:t> Sec. 2.3.5</a:t>
            </a:r>
            <a:endParaRPr lang="en-US" altLang="zh-CN"/>
          </a:p>
          <a:p>
            <a:r>
              <a:rPr lang="en-US" altLang="zh-CN"/>
              <a:t>MIP Objective/Constraints </a:t>
            </a:r>
            <a:r>
              <a:rPr lang="en-US" altLang="en-US"/>
              <a:t>→</a:t>
            </a:r>
            <a:r>
              <a:rPr lang="en-US" altLang="zh-CN"/>
              <a:t> Sec. 3.1</a:t>
            </a:r>
            <a:r>
              <a:rPr lang="zh-CN" altLang="en-US"/>
              <a:t>；公式与细节见附录</a:t>
            </a:r>
            <a:r>
              <a:rPr lang="en-US" altLang="zh-CN"/>
              <a:t> A</a:t>
            </a:r>
            <a:endParaRPr lang="en-US" altLang="zh-CN"/>
          </a:p>
          <a:p>
            <a:r>
              <a:rPr lang="en-US" altLang="zh-CN"/>
              <a:t>Column Generation </a:t>
            </a:r>
            <a:r>
              <a:rPr lang="en-US" altLang="en-US"/>
              <a:t>→</a:t>
            </a:r>
            <a:r>
              <a:rPr lang="en-US" altLang="zh-CN"/>
              <a:t> Sec. 3.2.1</a:t>
            </a:r>
            <a:r>
              <a:rPr lang="zh-CN" altLang="en-US"/>
              <a:t>；</a:t>
            </a:r>
            <a:r>
              <a:rPr lang="en-US" altLang="zh-CN"/>
              <a:t>Row Generation </a:t>
            </a:r>
            <a:r>
              <a:rPr lang="en-US" altLang="en-US"/>
              <a:t>→</a:t>
            </a:r>
            <a:r>
              <a:rPr lang="en-US" altLang="zh-CN"/>
              <a:t> Sec. 3.2.2</a:t>
            </a:r>
            <a:endParaRPr lang="en-US" altLang="zh-CN"/>
          </a:p>
          <a:p>
            <a:r>
              <a:rPr lang="en-US" altLang="zh-CN"/>
              <a:t>Two‑Phase Reviewing</a:t>
            </a:r>
            <a:r>
              <a:rPr lang="zh-CN" altLang="en-US"/>
              <a:t>（制度）</a:t>
            </a:r>
            <a:r>
              <a:rPr lang="en-US" altLang="en-US"/>
              <a:t>→</a:t>
            </a:r>
            <a:r>
              <a:rPr lang="en-US" altLang="zh-CN"/>
              <a:t> Sec. 4</a:t>
            </a:r>
            <a:r>
              <a:rPr lang="zh-CN" altLang="en-US"/>
              <a:t>；其与求解的分解加速讨论见</a:t>
            </a:r>
            <a:r>
              <a:rPr lang="en-US" altLang="zh-CN"/>
              <a:t> Sec. 5.2.5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tags" Target="../tags/tag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3.png"/><Relationship Id="rId12" Type="http://schemas.microsoft.com/office/2007/relationships/hdphoto" Target="../media/image5.wdp"/><Relationship Id="rId11" Type="http://schemas.openxmlformats.org/officeDocument/2006/relationships/image" Target="../media/image4.png"/><Relationship Id="rId10" Type="http://schemas.microsoft.com/office/2007/relationships/hdphoto" Target="../media/image3.wdp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microsoft.com/office/2007/relationships/hdphoto" Target="../media/image3.wdp"/><Relationship Id="rId7" Type="http://schemas.openxmlformats.org/officeDocument/2006/relationships/image" Target="../media/image2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0.webp"/><Relationship Id="rId10" Type="http://schemas.microsoft.com/office/2007/relationships/hdphoto" Target="../media/image5.wdp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-198120" y="939800"/>
            <a:ext cx="12747625" cy="7394575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-54610" y="3031490"/>
            <a:ext cx="12016740" cy="4284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358900" algn="ctr" eaLnBrk="0">
              <a:lnSpc>
                <a:spcPct val="81000"/>
              </a:lnSpc>
            </a:pPr>
            <a:r>
              <a:rPr lang="en-US" altLang="zh-CN" sz="4400" dirty="0">
                <a:solidFill>
                  <a:schemeClr val="bg1"/>
                </a:solidFill>
              </a:rPr>
              <a:t>Matching papers and reviewers </a:t>
            </a:r>
            <a:endParaRPr lang="en-US" altLang="zh-CN" sz="4400" dirty="0">
              <a:solidFill>
                <a:schemeClr val="bg1"/>
              </a:solidFill>
            </a:endParaRPr>
          </a:p>
          <a:p>
            <a:pPr marL="1358900" algn="ctr" eaLnBrk="0">
              <a:lnSpc>
                <a:spcPct val="81000"/>
              </a:lnSpc>
            </a:pPr>
            <a:r>
              <a:rPr lang="en-US" altLang="zh-CN" sz="4400" dirty="0">
                <a:solidFill>
                  <a:schemeClr val="bg1"/>
                </a:solidFill>
              </a:rPr>
              <a:t>at large conferences</a:t>
            </a:r>
            <a:endParaRPr lang="en-US" altLang="zh-CN" sz="4400" dirty="0">
              <a:solidFill>
                <a:schemeClr val="bg1"/>
              </a:solidFill>
            </a:endParaRPr>
          </a:p>
          <a:p>
            <a:pPr marL="1358900" algn="ctr" eaLnBrk="0">
              <a:lnSpc>
                <a:spcPct val="81000"/>
              </a:lnSpc>
            </a:pPr>
            <a:endParaRPr lang="zh-CN" altLang="en-US" sz="3200" b="1" kern="0" spc="-140" dirty="0">
              <a:solidFill>
                <a:srgbClr val="FFFFFF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58900" algn="ctr" eaLnBrk="0">
              <a:lnSpc>
                <a:spcPct val="81000"/>
              </a:lnSpc>
            </a:pPr>
            <a:r>
              <a:rPr lang="zh-CN" altLang="en-US" sz="3200" b="1" kern="0" spc="-1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在大型会议上匹配论文和审稿人</a:t>
            </a:r>
            <a:endParaRPr lang="zh-CN" altLang="en-US" sz="3200" b="1" kern="0" spc="-140" dirty="0">
              <a:solidFill>
                <a:srgbClr val="FFFFFF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58900" algn="ctr" eaLnBrk="0">
              <a:lnSpc>
                <a:spcPct val="81000"/>
              </a:lnSpc>
            </a:pPr>
            <a:endParaRPr sz="2100" kern="0" spc="10" dirty="0" err="1">
              <a:solidFill>
                <a:schemeClr val="bg2">
                  <a:lumMod val="90000"/>
                  <a:alpha val="10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58900" algn="l" eaLnBrk="0">
              <a:lnSpc>
                <a:spcPct val="81000"/>
              </a:lnSpc>
            </a:pPr>
            <a:r>
              <a:rPr lang="en-US" sz="2100" kern="0" spc="10" dirty="0" err="1">
                <a:solidFill>
                  <a:schemeClr val="bg2">
                    <a:lumMod val="90000"/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          </a:t>
            </a:r>
            <a:r>
              <a:rPr sz="2100" kern="0" spc="10" dirty="0" err="1">
                <a:solidFill>
                  <a:schemeClr val="bg2">
                    <a:lumMod val="90000"/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</a:t>
            </a:r>
            <a:r>
              <a:rPr lang="zh-CN" sz="2100" kern="0" spc="10" dirty="0" err="1">
                <a:solidFill>
                  <a:schemeClr val="bg2">
                    <a:lumMod val="90000"/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扩展</a:t>
            </a:r>
            <a:r>
              <a:rPr sz="2100" kern="0" spc="10" dirty="0" err="1">
                <a:solidFill>
                  <a:schemeClr val="bg2">
                    <a:lumMod val="90000"/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选题汇报</a:t>
            </a:r>
            <a:r>
              <a:rPr lang="en-US" sz="2100" kern="0" spc="10" dirty="0" err="1">
                <a:solidFill>
                  <a:schemeClr val="bg2">
                    <a:lumMod val="90000"/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110000"/>
              </a:lnSpc>
            </a:pPr>
            <a:endParaRPr lang="zh-CN" altLang="en-US" sz="1700" kern="0" spc="-1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110000"/>
              </a:lnSpc>
            </a:pPr>
            <a:endParaRPr lang="zh-CN" altLang="en-US" sz="1700" kern="0" spc="-1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110000"/>
              </a:lnSpc>
            </a:pPr>
            <a:endParaRPr lang="zh-CN" altLang="en-US" sz="1700" kern="0" spc="-1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110000"/>
              </a:lnSpc>
            </a:pPr>
            <a:endParaRPr lang="zh-CN" altLang="en-US" sz="1700" kern="0" spc="-1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110000"/>
              </a:lnSpc>
            </a:pPr>
            <a:endParaRPr lang="zh-CN" altLang="en-US" sz="1700" kern="0" spc="-1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110000"/>
              </a:lnSpc>
            </a:pPr>
            <a:endParaRPr lang="zh-CN" altLang="en-US" sz="1700" kern="0" spc="-1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110000"/>
              </a:lnSpc>
            </a:pPr>
            <a:r>
              <a:rPr lang="zh-CN" altLang="en-US" sz="1700" kern="0" spc="-1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李佳祎</a:t>
            </a:r>
            <a:endParaRPr lang="zh-CN" altLang="en-US" sz="1700" kern="0" spc="-1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110000"/>
              </a:lnSpc>
            </a:pPr>
            <a:r>
              <a:rPr lang="en-US" altLang="zh-CN" sz="1700" kern="0" spc="-1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2023202295</a:t>
            </a:r>
            <a:endParaRPr lang="zh-CN" altLang="en-US" sz="1700" kern="0" spc="-1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110000"/>
              </a:lnSpc>
            </a:pPr>
            <a:r>
              <a:rPr lang="en-US" sz="1700" kern="0" spc="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2025</a:t>
            </a:r>
            <a:r>
              <a:rPr lang="zh-CN" altLang="en-US" sz="1700" kern="0" spc="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</a:t>
            </a:r>
            <a:r>
              <a:rPr lang="en-US" altLang="zh-CN" sz="1700" kern="0" spc="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9</a:t>
            </a:r>
            <a:r>
              <a:rPr lang="zh-CN" altLang="en-US" sz="1700" kern="0" spc="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月</a:t>
            </a:r>
            <a:endParaRPr lang="zh-CN" altLang="en-US" sz="1700" kern="0" spc="9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2000"/>
                    </a14:imgEffect>
                    <a14:imgEffect>
                      <a14:colorTemperature colorTemp="5789"/>
                    </a14:imgEffect>
                    <a14:imgEffect>
                      <a14:saturation sat="10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52679" y="1114845"/>
            <a:ext cx="815655" cy="815655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182" l="21872" r="100000">
                        <a14:foregroundMark x1="32753" y1="31364" x2="32753" y2="31364"/>
                        <a14:foregroundMark x1="52339" y1="32727" x2="52339" y2="32727"/>
                        <a14:foregroundMark x1="58868" y1="54091" x2="58868" y2="54091"/>
                        <a14:foregroundMark x1="64635" y1="35000" x2="64635" y2="35000"/>
                        <a14:foregroundMark x1="78346" y1="32273" x2="78346" y2="32273"/>
                        <a14:foregroundMark x1="97062" y1="33182" x2="97062" y2="33182"/>
                        <a14:foregroundMark x1="90533" y1="27727" x2="90533" y2="27727"/>
                        <a14:foregroundMark x1="94559" y1="55455" x2="94559" y2="55455"/>
                        <a14:backgroundMark x1="94233" y1="22273" x2="94233" y2="22273"/>
                        <a14:backgroundMark x1="95756" y1="14545" x2="95756" y2="14545"/>
                        <a14:backgroundMark x1="95539" y1="29091" x2="95539" y2="29091"/>
                        <a14:backgroundMark x1="93254" y1="29091" x2="93254" y2="29091"/>
                        <a14:backgroundMark x1="92927" y1="20909" x2="92927" y2="20909"/>
                        <a14:backgroundMark x1="94015" y1="33636" x2="94015" y2="33636"/>
                        <a14:backgroundMark x1="41893" y1="40455" x2="41893" y2="40455"/>
                        <a14:backgroundMark x1="96627" y1="19545" x2="96627" y2="19545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745"/>
          <a:stretch>
            <a:fillRect/>
          </a:stretch>
        </p:blipFill>
        <p:spPr>
          <a:xfrm>
            <a:off x="8908031" y="1114845"/>
            <a:ext cx="2886952" cy="8945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1" y="938783"/>
            <a:ext cx="12380976" cy="7048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62761" y="3672459"/>
            <a:ext cx="476250" cy="47625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2761" y="4605909"/>
            <a:ext cx="476250" cy="47625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62761" y="5539359"/>
            <a:ext cx="476250" cy="476250"/>
          </a:xfrm>
          <a:prstGeom prst="rect">
            <a:avLst/>
          </a:prstGeom>
        </p:spPr>
      </p:pic>
      <p:graphicFrame>
        <p:nvGraphicFramePr>
          <p:cNvPr id="20" name="table 20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762000" y="2858770"/>
          <a:ext cx="9839325" cy="3920490"/>
        </p:xfrm>
        <a:graphic>
          <a:graphicData uri="http://schemas.openxmlformats.org/drawingml/2006/table">
            <a:tbl>
              <a:tblPr/>
              <a:tblGrid>
                <a:gridCol w="720725"/>
                <a:gridCol w="9118600"/>
              </a:tblGrid>
              <a:tr h="409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7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  <a:tabLst>
                          <a:tab pos="337820" algn="l"/>
                        </a:tabLst>
                      </a:pPr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	</a:t>
                      </a:r>
                      <a:endParaRPr sz="21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2235" algn="l" rtl="0" eaLnBrk="0">
                        <a:lnSpc>
                          <a:spcPct val="94000"/>
                        </a:lnSpc>
                      </a:pPr>
                      <a:endParaRPr lang="zh-CN" altLang="en-US" sz="1500" b="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21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1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893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55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>
                          <a:tab pos="360045" algn="l"/>
                        </a:tabLst>
                      </a:pPr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	</a:t>
                      </a:r>
                      <a:endParaRPr sz="21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2235" algn="l" rtl="0" eaLnBrk="0">
                        <a:lnSpc>
                          <a:spcPct val="94000"/>
                        </a:lnSpc>
                      </a:pPr>
                      <a:r>
                        <a:rPr sz="1600" kern="0" spc="30" dirty="0">
                          <a:solidFill>
                            <a:srgbClr val="1A4B8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论文标题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r>
                        <a:rPr lang="en-US" altLang="zh-CN" sz="1500" kern="0" spc="4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+mn-ea"/>
                        </a:rPr>
                        <a:t>Matching papers and reviewers at large conferences</a:t>
                      </a:r>
                      <a:endParaRPr lang="zh-CN" altLang="en-US" sz="1500" kern="0" spc="40" dirty="0">
                        <a:solidFill>
                          <a:srgbClr val="333333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lang="zh-CN" altLang="en-US" sz="1500" dirty="0">
                          <a:effectLst/>
                          <a:sym typeface="+mn-ea"/>
                        </a:rPr>
                        <a:t>  </a:t>
                      </a:r>
                      <a:r>
                        <a:rPr lang="zh-CN" altLang="en-US" sz="15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+mn-ea"/>
                        </a:rPr>
                        <a:t>在大型会议上匹配论文和审稿人</a:t>
                      </a:r>
                      <a:endParaRPr lang="zh-CN" altLang="en-US" sz="1500" b="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0330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600" kern="0" spc="30" dirty="0">
                          <a:solidFill>
                            <a:srgbClr val="1A4B8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发表期刊</a:t>
                      </a:r>
                      <a:endParaRPr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Artificial Intelligence [Volume 331]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zh-CN" altLang="en-US" sz="15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中国计算机学会推荐国际学术期刊 （人工智能）</a:t>
                      </a:r>
                      <a:r>
                        <a:rPr lang="en-US" altLang="zh-CN" sz="1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类</a:t>
                      </a:r>
                      <a:endParaRPr sz="1500" b="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47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7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>
                          <a:tab pos="337820" algn="l"/>
                        </a:tabLst>
                      </a:pPr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	</a:t>
                      </a:r>
                      <a:endParaRPr sz="21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033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600" kern="0" spc="30" dirty="0">
                          <a:solidFill>
                            <a:srgbClr val="1A4B8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发表时间</a:t>
                      </a:r>
                      <a:endParaRPr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2235" algn="l" rtl="0" eaLnBrk="0">
                        <a:lnSpc>
                          <a:spcPts val="1845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202</a:t>
                      </a:r>
                      <a:r>
                        <a:rPr lang="en-US" sz="1500" kern="0" spc="-1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500" kern="0" spc="-1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r>
                        <a:rPr lang="en-US" sz="1500" kern="0" spc="-1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sz="1500" kern="0" spc="-1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sz="1500" kern="0" spc="-1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lang="en-US" sz="1500" kern="0" spc="-1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1500" kern="0" spc="-1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日在线发布</a:t>
                      </a:r>
                      <a:endParaRPr sz="1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21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7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>
                          <a:tab pos="337820" algn="l"/>
                        </a:tabLst>
                      </a:pPr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	</a:t>
                      </a:r>
                      <a:endParaRPr sz="21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69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endParaRPr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300" algn="l" rtl="0" eaLnBrk="0">
                        <a:lnSpc>
                          <a:spcPct val="91000"/>
                        </a:lnSpc>
                      </a:pPr>
                      <a:endParaRPr sz="1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00874" y="5642800"/>
            <a:ext cx="200025" cy="269367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78471" y="4709350"/>
            <a:ext cx="244830" cy="269367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00874" y="3775900"/>
            <a:ext cx="200025" cy="269367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762253" y="1314703"/>
            <a:ext cx="1537335" cy="448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30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论文来源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 cstate="screen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 contrast="2000"/>
                    </a14:imgEffect>
                    <a14:imgEffect>
                      <a14:colorTemperature colorTemp="5789"/>
                    </a14:imgEffect>
                    <a14:imgEffect>
                      <a14:saturation sat="10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52679" y="1114845"/>
            <a:ext cx="815655" cy="815655"/>
          </a:xfrm>
          <a:prstGeom prst="rect">
            <a:avLst/>
          </a:prstGeom>
          <a:noFill/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0" b="98182" l="21872" r="100000">
                        <a14:foregroundMark x1="32753" y1="31364" x2="32753" y2="31364"/>
                        <a14:foregroundMark x1="52339" y1="32727" x2="52339" y2="32727"/>
                        <a14:foregroundMark x1="58868" y1="54091" x2="58868" y2="54091"/>
                        <a14:foregroundMark x1="64635" y1="35000" x2="64635" y2="35000"/>
                        <a14:foregroundMark x1="78346" y1="32273" x2="78346" y2="32273"/>
                        <a14:foregroundMark x1="97062" y1="33182" x2="97062" y2="33182"/>
                        <a14:foregroundMark x1="90533" y1="27727" x2="90533" y2="27727"/>
                        <a14:foregroundMark x1="94559" y1="55455" x2="94559" y2="55455"/>
                        <a14:backgroundMark x1="94233" y1="22273" x2="94233" y2="22273"/>
                        <a14:backgroundMark x1="95756" y1="14545" x2="95756" y2="14545"/>
                        <a14:backgroundMark x1="95539" y1="29091" x2="95539" y2="29091"/>
                        <a14:backgroundMark x1="93254" y1="29091" x2="93254" y2="29091"/>
                        <a14:backgroundMark x1="92927" y1="20909" x2="92927" y2="20909"/>
                        <a14:backgroundMark x1="94015" y1="33636" x2="94015" y2="33636"/>
                        <a14:backgroundMark x1="41893" y1="40455" x2="41893" y2="40455"/>
                        <a14:backgroundMark x1="96627" y1="19545" x2="96627" y2="19545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745"/>
          <a:stretch>
            <a:fillRect/>
          </a:stretch>
        </p:blipFill>
        <p:spPr>
          <a:xfrm>
            <a:off x="8908031" y="1114845"/>
            <a:ext cx="2886952" cy="89458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0030" y="2858770"/>
            <a:ext cx="5281295" cy="2914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1" y="938783"/>
            <a:ext cx="12380976" cy="7048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970" y="2207895"/>
            <a:ext cx="5601335" cy="296164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25386" y="2586609"/>
            <a:ext cx="476250" cy="47625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6520688" y="2677350"/>
            <a:ext cx="4780279" cy="1374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1445" algn="l" rtl="0" eaLnBrk="0">
              <a:lnSpc>
                <a:spcPts val="2120"/>
              </a:lnSpc>
              <a:tabLst>
                <a:tab pos="353695" algn="l"/>
              </a:tabLst>
            </a:pPr>
            <a:r>
              <a:rPr sz="1600" kern="0" spc="0" dirty="0">
                <a:solidFill>
                  <a:srgbClr val="1A4B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600" kern="0" spc="70" dirty="0">
                <a:solidFill>
                  <a:srgbClr val="1A4B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1600" kern="0" spc="30" dirty="0" err="1">
                <a:solidFill>
                  <a:srgbClr val="1A4B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现有自动化匹配流程的</a:t>
            </a:r>
            <a:r>
              <a:rPr sz="1600" kern="0" spc="30" dirty="0" err="1">
                <a:solidFill>
                  <a:srgbClr val="1A4B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810" algn="l" rtl="0" eaLnBrk="0">
              <a:lnSpc>
                <a:spcPct val="123000"/>
              </a:lnSpc>
              <a:spcBef>
                <a:spcPts val="0"/>
              </a:spcBef>
            </a:pP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评审资质估计难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：信息缺失、投标操纵、冲突申报不充分导致评价不可靠。</a:t>
            </a:r>
            <a:endParaRPr lang="zh-CN" alt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3810" algn="l" rtl="0" eaLnBrk="0">
              <a:lnSpc>
                <a:spcPct val="123000"/>
              </a:lnSpc>
              <a:spcBef>
                <a:spcPts val="0"/>
              </a:spcBef>
            </a:pP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算法可扩展性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：大规模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MIP/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网络流模型在数万潜在配对上难以</a:t>
            </a:r>
            <a:r>
              <a:rPr lang="zh-CN" altLang="en-US" sz="1500" u="sng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高效求解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3810" algn="l" rtl="0" eaLnBrk="0">
              <a:lnSpc>
                <a:spcPct val="123000"/>
              </a:lnSpc>
              <a:spcBef>
                <a:spcPts val="0"/>
              </a:spcBef>
            </a:pP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制度设计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：如何在有限评审预算下兼顾</a:t>
            </a:r>
            <a:r>
              <a:rPr lang="zh-CN" altLang="en-US" sz="1500" u="sng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公平性、鲁棒性与作者体验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52564" y="2690050"/>
            <a:ext cx="221894" cy="269367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525386" y="5653659"/>
            <a:ext cx="476250" cy="476250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6519354" y="5744400"/>
            <a:ext cx="4847590" cy="1088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1285" algn="l" rtl="0" eaLnBrk="0">
              <a:lnSpc>
                <a:spcPts val="2120"/>
              </a:lnSpc>
              <a:tabLst>
                <a:tab pos="366395" algn="l"/>
              </a:tabLst>
            </a:pPr>
            <a:r>
              <a:rPr sz="1600" kern="0" spc="0" dirty="0">
                <a:solidFill>
                  <a:srgbClr val="1A4B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600" kern="0" spc="40" dirty="0">
                <a:solidFill>
                  <a:srgbClr val="1A4B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500" baseline="7000" dirty="0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大型</a:t>
            </a:r>
            <a:r>
              <a:rPr lang="en-US" altLang="zh-CN" sz="2500" baseline="7000" dirty="0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2500" baseline="7000" dirty="0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会议投稿量激增</a:t>
            </a:r>
            <a:endParaRPr lang="zh-CN" altLang="en-US" sz="2500" baseline="7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905" eaLnBrk="0">
              <a:lnSpc>
                <a:spcPct val="122000"/>
              </a:lnSpc>
            </a:pP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大型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会议投稿量近年激增，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AAAI 2021 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收到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9000+ 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篇投稿，评审资源需求迅速膨胀</a:t>
            </a:r>
            <a:endParaRPr lang="zh-CN" alt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905" eaLnBrk="0">
              <a:lnSpc>
                <a:spcPct val="122000"/>
              </a:lnSpc>
            </a:pPr>
            <a:r>
              <a:rPr lang="zh-CN" altLang="en-US" sz="1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传统手工分配已无法满足时间与质量要求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905" algn="l" rtl="0" eaLnBrk="0">
              <a:lnSpc>
                <a:spcPct val="122000"/>
              </a:lnSpc>
            </a:pP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41096" y="5757100"/>
            <a:ext cx="244830" cy="269366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758190" y="1314450"/>
            <a:ext cx="2176780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30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</a:t>
            </a:r>
            <a:r>
              <a:rPr lang="zh-CN" sz="30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zh-CN" sz="30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动机</a:t>
            </a:r>
            <a:endParaRPr lang="zh-CN" sz="3000" kern="0" spc="-2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 contrast="2000"/>
                    </a14:imgEffect>
                    <a14:imgEffect>
                      <a14:colorTemperature colorTemp="5789"/>
                    </a14:imgEffect>
                    <a14:imgEffect>
                      <a14:saturation sat="10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52679" y="1114845"/>
            <a:ext cx="815655" cy="815655"/>
          </a:xfrm>
          <a:prstGeom prst="rect">
            <a:avLst/>
          </a:prstGeom>
          <a:noFill/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98182" l="21872" r="100000">
                        <a14:foregroundMark x1="32753" y1="31364" x2="32753" y2="31364"/>
                        <a14:foregroundMark x1="52339" y1="32727" x2="52339" y2="32727"/>
                        <a14:foregroundMark x1="58868" y1="54091" x2="58868" y2="54091"/>
                        <a14:foregroundMark x1="64635" y1="35000" x2="64635" y2="35000"/>
                        <a14:foregroundMark x1="78346" y1="32273" x2="78346" y2="32273"/>
                        <a14:foregroundMark x1="97062" y1="33182" x2="97062" y2="33182"/>
                        <a14:foregroundMark x1="90533" y1="27727" x2="90533" y2="27727"/>
                        <a14:foregroundMark x1="94559" y1="55455" x2="94559" y2="55455"/>
                        <a14:backgroundMark x1="94233" y1="22273" x2="94233" y2="22273"/>
                        <a14:backgroundMark x1="95756" y1="14545" x2="95756" y2="14545"/>
                        <a14:backgroundMark x1="95539" y1="29091" x2="95539" y2="29091"/>
                        <a14:backgroundMark x1="93254" y1="29091" x2="93254" y2="29091"/>
                        <a14:backgroundMark x1="92927" y1="20909" x2="92927" y2="20909"/>
                        <a14:backgroundMark x1="94015" y1="33636" x2="94015" y2="33636"/>
                        <a14:backgroundMark x1="41893" y1="40455" x2="41893" y2="40455"/>
                        <a14:backgroundMark x1="96627" y1="19545" x2="96627" y2="19545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745"/>
          <a:stretch>
            <a:fillRect/>
          </a:stretch>
        </p:blipFill>
        <p:spPr>
          <a:xfrm>
            <a:off x="8908031" y="1114845"/>
            <a:ext cx="2886952" cy="89458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3505" y="7671435"/>
            <a:ext cx="12164695" cy="981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58190" y="2677160"/>
            <a:ext cx="5351145" cy="3219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11"/>
          <a:stretch>
            <a:fillRect/>
          </a:stretch>
        </p:blipFill>
        <p:spPr>
          <a:xfrm>
            <a:off x="1583690" y="2413000"/>
            <a:ext cx="3899535" cy="5346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8089" y="32385"/>
            <a:ext cx="12815047" cy="8895940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191770" y="1920875"/>
            <a:ext cx="8881110" cy="927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925" eaLnBrk="0">
              <a:lnSpc>
                <a:spcPts val="2115"/>
              </a:lnSpc>
              <a:tabLst>
                <a:tab pos="218440" algn="l"/>
              </a:tabLst>
            </a:pPr>
            <a:r>
              <a:rPr lang="en-US" altLang="zh-CN" sz="1685" dirty="0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LCM -- </a:t>
            </a:r>
            <a:r>
              <a:rPr lang="zh-CN" altLang="en-US" sz="1685" dirty="0">
                <a:solidFill>
                  <a:srgbClr val="1A4B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大规模会议评审分配框架</a:t>
            </a:r>
            <a:endParaRPr lang="zh-CN" altLang="en-US" sz="168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160" eaLnBrk="0">
              <a:lnSpc>
                <a:spcPct val="92000"/>
              </a:lnSpc>
              <a:spcBef>
                <a:spcPts val="1290"/>
              </a:spcBef>
            </a:pP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</a:t>
            </a:r>
            <a:r>
              <a:rPr lang="zh-CN" altLang="en-US" sz="1205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论文匹配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系统与工作流，称为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LCM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Large Conference Matching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3215" y="522425"/>
            <a:ext cx="6474758" cy="515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1655" eaLnBrk="0">
              <a:lnSpc>
                <a:spcPct val="92000"/>
              </a:lnSpc>
              <a:spcBef>
                <a:spcPts val="0"/>
              </a:spcBef>
            </a:pPr>
            <a:r>
              <a:rPr lang="zh-CN" altLang="en-US" sz="3000" kern="0" spc="-16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论文主要</a:t>
            </a:r>
            <a:r>
              <a:rPr lang="zh-CN" altLang="en-US" sz="3000" kern="0" spc="-16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</a:t>
            </a:r>
            <a:endParaRPr lang="zh-CN" altLang="en-US" sz="3000" kern="0" spc="-16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2000"/>
                    </a14:imgEffect>
                    <a14:imgEffect>
                      <a14:colorTemperature colorTemp="5789"/>
                    </a14:imgEffect>
                    <a14:imgEffect>
                      <a14:saturation sat="10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4932" y="353160"/>
            <a:ext cx="815655" cy="815655"/>
          </a:xfrm>
          <a:prstGeom prst="rect">
            <a:avLst/>
          </a:prstGeom>
          <a:noFill/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182" l="21872" r="100000">
                        <a14:foregroundMark x1="32753" y1="31364" x2="32753" y2="31364"/>
                        <a14:foregroundMark x1="52339" y1="32727" x2="52339" y2="32727"/>
                        <a14:foregroundMark x1="58868" y1="54091" x2="58868" y2="54091"/>
                        <a14:foregroundMark x1="64635" y1="35000" x2="64635" y2="35000"/>
                        <a14:foregroundMark x1="78346" y1="32273" x2="78346" y2="32273"/>
                        <a14:foregroundMark x1="97062" y1="33182" x2="97062" y2="33182"/>
                        <a14:foregroundMark x1="90533" y1="27727" x2="90533" y2="27727"/>
                        <a14:foregroundMark x1="94559" y1="55455" x2="94559" y2="55455"/>
                        <a14:backgroundMark x1="94233" y1="22273" x2="94233" y2="22273"/>
                        <a14:backgroundMark x1="95756" y1="14545" x2="95756" y2="14545"/>
                        <a14:backgroundMark x1="95539" y1="29091" x2="95539" y2="29091"/>
                        <a14:backgroundMark x1="93254" y1="29091" x2="93254" y2="29091"/>
                        <a14:backgroundMark x1="92927" y1="20909" x2="92927" y2="20909"/>
                        <a14:backgroundMark x1="94015" y1="33636" x2="94015" y2="33636"/>
                        <a14:backgroundMark x1="41893" y1="40455" x2="41893" y2="40455"/>
                        <a14:backgroundMark x1="96627" y1="19545" x2="96627" y2="19545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745"/>
          <a:stretch>
            <a:fillRect/>
          </a:stretch>
        </p:blipFill>
        <p:spPr>
          <a:xfrm>
            <a:off x="8740587" y="353160"/>
            <a:ext cx="2886952" cy="894586"/>
          </a:xfrm>
          <a:prstGeom prst="rect">
            <a:avLst/>
          </a:prstGeom>
        </p:spPr>
      </p:pic>
      <p:pic>
        <p:nvPicPr>
          <p:cNvPr id="2" name="图片 1" descr="_page_2_Figure_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1450" y="1447800"/>
            <a:ext cx="4591050" cy="71539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81480" y="1447800"/>
            <a:ext cx="739140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600" b="1" i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“如何在超大规模会议里，既</a:t>
            </a:r>
            <a:r>
              <a:rPr lang="zh-CN" altLang="en-US" sz="1600" b="1" i="1" u="sng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高质量</a:t>
            </a:r>
            <a:r>
              <a:rPr lang="zh-CN" altLang="en-US" sz="1600" b="1" i="1">
                <a:solidFill>
                  <a:schemeClr val="tx1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又</a:t>
            </a:r>
            <a:r>
              <a:rPr lang="zh-CN" altLang="en-US" sz="1600" b="1" i="1" u="sng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鲁棒地</a:t>
            </a:r>
            <a:r>
              <a:rPr lang="zh-CN" altLang="en-US" sz="1600" b="1" i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把论文分配给合适的评审”</a:t>
            </a:r>
            <a:endParaRPr lang="zh-CN" altLang="en-US" sz="1600" b="1" i="1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03275" y="3661410"/>
            <a:ext cx="5334635" cy="3738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数据收集与处理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评分函数设计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混合整数规划（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MIP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）建模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双阶段评审机制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9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：每篇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份高置信负面评审即可直接拒稿；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：剩余论文补充评审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申辩讨论。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3550" y="3150870"/>
            <a:ext cx="24003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 i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 LCM </a:t>
            </a:r>
            <a:r>
              <a:rPr lang="zh-CN" altLang="en-US" sz="2000" b="1" i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在干什么？</a:t>
            </a:r>
            <a:r>
              <a:rPr lang="en-US" altLang="zh-CN" sz="2000" b="1" i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”</a:t>
            </a:r>
            <a:endParaRPr lang="en-US" altLang="zh-CN" sz="2000" b="1" i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63850" y="3699510"/>
            <a:ext cx="35185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“收集</a:t>
            </a:r>
            <a:r>
              <a:rPr lang="zh-CN" altLang="en-US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信息：谁适合审哪篇论文”</a:t>
            </a:r>
            <a:endParaRPr lang="zh-CN" altLang="en-US" sz="16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81150" y="4036060"/>
            <a:ext cx="172148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收集</a:t>
            </a:r>
            <a:r>
              <a:rPr lang="en-US" altLang="zh-CN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/</a:t>
            </a:r>
            <a:r>
              <a:rPr lang="zh-CN" altLang="en-US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清洗</a:t>
            </a:r>
            <a:r>
              <a:rPr lang="en-US" altLang="zh-CN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/</a:t>
            </a:r>
            <a:r>
              <a:rPr lang="zh-CN" altLang="en-US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屏蔽</a:t>
            </a:r>
            <a:endParaRPr lang="zh-CN" altLang="en-US" sz="16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97150" y="4548505"/>
            <a:ext cx="39757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衡量某个审稿人是否适合评这篇论文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”</a:t>
            </a:r>
            <a:endParaRPr lang="en-US" altLang="zh-CN" sz="1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92250" y="4832350"/>
            <a:ext cx="51695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多种信号（文本相似度、关键词匹配、投标意愿等）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合并成一个统一的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匹配分数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”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63550" y="5736590"/>
            <a:ext cx="61976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把论文分给审稿人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”</a:t>
            </a:r>
            <a:r>
              <a:rPr lang="en-US" altLang="zh-CN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===</a:t>
            </a:r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形式化</a:t>
            </a:r>
            <a:r>
              <a:rPr lang="en-US" altLang="zh-CN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==&gt;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数学优化问题</a:t>
            </a:r>
            <a:endParaRPr lang="zh-CN" altLang="en-US" sz="1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581150" y="7168515"/>
            <a:ext cx="56642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初筛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：把有限的评审资源</a:t>
            </a:r>
            <a:r>
              <a:rPr lang="zh-CN" altLang="en-US" sz="1600" u="sng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优先分配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给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有希望被接收的论文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”</a:t>
            </a:r>
            <a:endParaRPr lang="en-US" altLang="zh-CN" sz="1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并对明显低质量论文</a:t>
            </a:r>
            <a:r>
              <a:rPr lang="zh-CN" altLang="en-US" sz="1600" u="sng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快速拒稿</a:t>
            </a:r>
            <a:endParaRPr lang="zh-CN" altLang="en-US" sz="1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深筛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：节省资源供关键论文深入评审。</a:t>
            </a:r>
            <a:endParaRPr lang="zh-CN" altLang="en-US" sz="1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4937125" y="3952875"/>
            <a:ext cx="3117850" cy="254000"/>
          </a:xfrm>
          <a:prstGeom prst="straightConnector1">
            <a:avLst/>
          </a:prstGeom>
          <a:ln w="57150" cap="flat" cmpd="sng" algn="ctr">
            <a:solidFill>
              <a:schemeClr val="accent3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5610225" y="4459605"/>
            <a:ext cx="5175250" cy="426085"/>
          </a:xfrm>
          <a:prstGeom prst="straightConnector1">
            <a:avLst/>
          </a:prstGeom>
          <a:ln w="57150" cap="flat" cmpd="sng" algn="ctr">
            <a:solidFill>
              <a:schemeClr val="accent3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5159375" y="5438775"/>
            <a:ext cx="3784600" cy="374650"/>
          </a:xfrm>
          <a:prstGeom prst="straightConnector1">
            <a:avLst/>
          </a:prstGeom>
          <a:ln w="57150" cap="flat" cmpd="sng" algn="ctr">
            <a:solidFill>
              <a:schemeClr val="accent3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5159375" y="5845810"/>
            <a:ext cx="3048000" cy="1351915"/>
          </a:xfrm>
          <a:prstGeom prst="straightConnector1">
            <a:avLst/>
          </a:prstGeom>
          <a:ln w="57150" cap="flat" cmpd="sng" algn="ctr">
            <a:solidFill>
              <a:schemeClr val="accent3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8089" y="0"/>
            <a:ext cx="12815047" cy="8895940"/>
          </a:xfrm>
          <a:prstGeom prst="rect">
            <a:avLst/>
          </a:prstGeom>
        </p:spPr>
      </p:pic>
      <p:sp>
        <p:nvSpPr>
          <p:cNvPr id="140" name="textbox 140"/>
          <p:cNvSpPr/>
          <p:nvPr/>
        </p:nvSpPr>
        <p:spPr>
          <a:xfrm>
            <a:off x="161290" y="1357630"/>
            <a:ext cx="4683760" cy="3037205"/>
          </a:xfrm>
          <a:prstGeom prst="rect">
            <a:avLst/>
          </a:prstGeom>
          <a:solidFill>
            <a:srgbClr val="E3F2F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0000"/>
              </a:lnSpc>
            </a:pPr>
            <a:endParaRPr sz="80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eaLnBrk="0">
              <a:lnSpc>
                <a:spcPts val="2120"/>
              </a:lnSpc>
              <a:spcBef>
                <a:spcPts val="0"/>
              </a:spcBef>
              <a:tabLst>
                <a:tab pos="435610" algn="l"/>
              </a:tabLst>
            </a:pPr>
            <a:r>
              <a:rPr sz="1685" kern="0" dirty="0">
                <a:solidFill>
                  <a:srgbClr val="0D47A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685" kern="0" spc="249" dirty="0">
                <a:solidFill>
                  <a:srgbClr val="0D47A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85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数据收集与处理</a:t>
            </a:r>
            <a:r>
              <a:rPr lang="en-US" altLang="zh-CN" sz="1685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[2.1-2.2]</a:t>
            </a:r>
            <a:endParaRPr lang="en-US" altLang="zh-CN" sz="1685" dirty="0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1295" eaLnBrk="0">
              <a:lnSpc>
                <a:spcPct val="92000"/>
              </a:lnSpc>
              <a:spcBef>
                <a:spcPts val="1280"/>
              </a:spcBef>
            </a:pPr>
            <a:r>
              <a:rPr lang="zh-CN" sz="1205" b="1" kern="0" dirty="0">
                <a:solidFill>
                  <a:srgbClr val="263238">
                    <a:alpha val="10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Paper Info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Reviewer Info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、外部数据源</a:t>
            </a:r>
            <a:endParaRPr lang="zh-CN" altLang="en-US" sz="1205" kern="0" dirty="0">
              <a:solidFill>
                <a:srgbClr val="26323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1295" eaLnBrk="0">
              <a:lnSpc>
                <a:spcPct val="92000"/>
              </a:lnSpc>
              <a:spcBef>
                <a:spcPts val="1280"/>
              </a:spcBef>
            </a:pPr>
            <a:r>
              <a:rPr lang="zh-CN" altLang="en-US" sz="1205" b="1" kern="0" dirty="0">
                <a:solidFill>
                  <a:srgbClr val="263238">
                    <a:alpha val="10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205" kern="0" dirty="0">
              <a:solidFill>
                <a:srgbClr val="26323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1295" eaLnBrk="0">
              <a:lnSpc>
                <a:spcPct val="72000"/>
              </a:lnSpc>
              <a:spcBef>
                <a:spcPts val="1280"/>
              </a:spcBef>
            </a:pPr>
            <a:r>
              <a:rPr lang="en-US" altLang="zh-CN" sz="1205" b="1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COI System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：识别并禁止冲突匹配</a:t>
            </a:r>
            <a:endParaRPr lang="zh-CN" altLang="en-US" sz="1205" kern="0" dirty="0">
              <a:solidFill>
                <a:srgbClr val="26323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1295" eaLnBrk="0">
              <a:lnSpc>
                <a:spcPct val="72000"/>
              </a:lnSpc>
              <a:spcBef>
                <a:spcPts val="1280"/>
              </a:spcBef>
            </a:pP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DBLP 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推断未申报关系（近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年合著、海量历史合著、导师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同门）</a:t>
            </a:r>
            <a:endParaRPr lang="zh-CN" altLang="en-US" sz="1205" kern="0" dirty="0">
              <a:solidFill>
                <a:srgbClr val="26323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1295" eaLnBrk="0">
              <a:lnSpc>
                <a:spcPct val="92000"/>
              </a:lnSpc>
              <a:spcBef>
                <a:spcPts val="1280"/>
              </a:spcBef>
            </a:pP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coi_{ij} 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指示矩阵（用于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硬约束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）、扩展后的冲突列表（包括推断关系）</a:t>
            </a:r>
            <a:endParaRPr lang="zh-CN" altLang="en-US" sz="1205" kern="0" dirty="0">
              <a:solidFill>
                <a:srgbClr val="26323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1295" eaLnBrk="0">
              <a:lnSpc>
                <a:spcPct val="92000"/>
              </a:lnSpc>
              <a:spcBef>
                <a:spcPts val="1280"/>
              </a:spcBef>
            </a:pPr>
            <a:r>
              <a:rPr lang="en-US" altLang="zh-CN" sz="1205" b="1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Filter Bids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：过滤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降权可疑投标（投得过少只押单篇、海量负投、互投嫌疑等），降低操纵影响</a:t>
            </a:r>
            <a:endParaRPr lang="zh-CN" altLang="en-US" sz="1205" kern="0" dirty="0">
              <a:solidFill>
                <a:srgbClr val="26323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7672070" y="1449705"/>
            <a:ext cx="4711065" cy="3105785"/>
          </a:xfrm>
          <a:prstGeom prst="rect">
            <a:avLst/>
          </a:prstGeom>
          <a:solidFill>
            <a:srgbClr val="E3F2F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0000"/>
              </a:lnSpc>
            </a:pPr>
            <a:endParaRPr sz="80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1615" eaLnBrk="0">
              <a:lnSpc>
                <a:spcPts val="2120"/>
              </a:lnSpc>
              <a:spcBef>
                <a:spcPts val="0"/>
              </a:spcBef>
              <a:tabLst>
                <a:tab pos="405130" algn="l"/>
              </a:tabLst>
            </a:pPr>
            <a:r>
              <a:rPr sz="1685" kern="0" dirty="0">
                <a:solidFill>
                  <a:srgbClr val="0D47A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685" kern="0" spc="8" dirty="0">
                <a:solidFill>
                  <a:srgbClr val="0D47A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1685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MIP </a:t>
            </a:r>
            <a:r>
              <a:rPr lang="zh-CN" altLang="en-US" sz="1685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建模与求解</a:t>
            </a:r>
            <a:r>
              <a:rPr lang="en-US" altLang="zh-CN" sz="1685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[3.1-3.4]</a:t>
            </a:r>
            <a:endParaRPr lang="zh-CN" altLang="en-US" sz="168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0" eaLnBrk="0">
              <a:lnSpc>
                <a:spcPct val="83000"/>
              </a:lnSpc>
              <a:spcBef>
                <a:spcPts val="1290"/>
              </a:spcBef>
            </a:pPr>
            <a:r>
              <a:rPr lang="zh-CN" altLang="en-US" sz="1205" b="1" kern="0" spc="-8" dirty="0">
                <a:solidFill>
                  <a:srgbClr val="263238">
                    <a:alpha val="10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建模目标</a:t>
            </a:r>
            <a:r>
              <a:rPr lang="zh-CN" altLang="en-US" sz="1205" kern="0" spc="-8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：最大化匹配质量，同时满足硬约束并尽量满足软约束</a:t>
            </a:r>
            <a:endParaRPr lang="zh-CN" altLang="en-US" sz="1205" kern="0" spc="-8" dirty="0">
              <a:solidFill>
                <a:srgbClr val="26323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0" eaLnBrk="0">
              <a:lnSpc>
                <a:spcPct val="83000"/>
              </a:lnSpc>
              <a:spcBef>
                <a:spcPts val="1290"/>
              </a:spcBef>
            </a:pP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硬约束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冲突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COI/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评审数量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评审负载</a:t>
            </a:r>
            <a:endParaRPr lang="zh-CN" altLang="en-US" sz="120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0" eaLnBrk="0">
              <a:lnSpc>
                <a:spcPct val="83000"/>
              </a:lnSpc>
              <a:spcBef>
                <a:spcPts val="1290"/>
              </a:spcBef>
            </a:pP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软约束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资历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合作者距离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地理多样性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禁止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2‑cycle</a:t>
            </a:r>
            <a:endParaRPr lang="en-US" altLang="zh-CN" sz="120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0" eaLnBrk="0">
              <a:lnSpc>
                <a:spcPct val="83000"/>
              </a:lnSpc>
              <a:spcBef>
                <a:spcPts val="1290"/>
              </a:spcBef>
            </a:pPr>
            <a:r>
              <a:rPr lang="zh-CN" altLang="en-US" sz="1205" b="1" kern="0" spc="-8" dirty="0">
                <a:solidFill>
                  <a:srgbClr val="263238">
                    <a:alpha val="10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求解</a:t>
            </a:r>
            <a:r>
              <a:rPr lang="zh-CN" altLang="en-US" sz="1205" kern="0" spc="-8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1205" kern="0" spc="-8" dirty="0">
              <a:solidFill>
                <a:srgbClr val="26323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96850" eaLnBrk="0">
              <a:lnSpc>
                <a:spcPct val="83000"/>
              </a:lnSpc>
              <a:spcBef>
                <a:spcPts val="1290"/>
              </a:spcBef>
            </a:pPr>
            <a:r>
              <a:rPr lang="zh-CN" altLang="en-US" sz="120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列生成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Sec. 3.2.1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仅为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最有希望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的配对生成变量</a:t>
            </a:r>
            <a:endParaRPr lang="zh-CN" altLang="en-US" sz="120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0" eaLnBrk="0">
              <a:lnSpc>
                <a:spcPct val="83000"/>
              </a:lnSpc>
              <a:spcBef>
                <a:spcPts val="1290"/>
              </a:spcBef>
            </a:pPr>
            <a:r>
              <a:rPr lang="zh-CN" altLang="en-US" sz="120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行生成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Sec. 3.2.2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先不加合作者约束求解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找到被违反的合作者对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将对应约束加入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MIP </a:t>
            </a:r>
            <a:r>
              <a:rPr lang="en-US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迭代直到违例可接受或时间到。</a:t>
            </a:r>
            <a:endParaRPr lang="zh-CN" altLang="en-US" sz="120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0" eaLnBrk="0">
              <a:lnSpc>
                <a:spcPct val="83000"/>
              </a:lnSpc>
              <a:spcBef>
                <a:spcPts val="1290"/>
              </a:spcBef>
            </a:pPr>
            <a:r>
              <a:rPr lang="zh-CN" altLang="en-US" sz="120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求解策略</a:t>
            </a:r>
            <a:r>
              <a:rPr lang="en-US" altLang="zh-CN" sz="120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设定绝对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MIP gap 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容忍度（例如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）以加快收敛；问题可随时停止并返回当前最优可行解（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anytime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endParaRPr lang="zh-CN" altLang="en-US" sz="120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161290" y="4504690"/>
            <a:ext cx="4683760" cy="4235450"/>
          </a:xfrm>
          <a:prstGeom prst="rect">
            <a:avLst/>
          </a:prstGeom>
          <a:solidFill>
            <a:srgbClr val="E3F2F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9000"/>
              </a:lnSpc>
            </a:pPr>
            <a:endParaRPr sz="80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eaLnBrk="0">
              <a:lnSpc>
                <a:spcPts val="2120"/>
              </a:lnSpc>
              <a:spcBef>
                <a:spcPts val="0"/>
              </a:spcBef>
              <a:tabLst>
                <a:tab pos="435610" algn="l"/>
              </a:tabLst>
            </a:pPr>
            <a:r>
              <a:rPr sz="1445" kern="0" dirty="0">
                <a:solidFill>
                  <a:srgbClr val="1565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1445" kern="0" spc="32" dirty="0">
                <a:solidFill>
                  <a:srgbClr val="1565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lang="zh-CN" altLang="en-US" sz="1690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评分函数设计</a:t>
            </a:r>
            <a:r>
              <a:rPr lang="en-US" altLang="zh-CN" sz="1690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[2.3]</a:t>
            </a:r>
            <a:endParaRPr lang="en-US" altLang="zh-CN" sz="1690" dirty="0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1295" eaLnBrk="0">
              <a:lnSpc>
                <a:spcPct val="92000"/>
              </a:lnSpc>
              <a:spcBef>
                <a:spcPts val="1280"/>
              </a:spcBef>
            </a:pPr>
            <a:r>
              <a:rPr lang="zh-CN" sz="1205" b="1" kern="0" dirty="0">
                <a:solidFill>
                  <a:srgbClr val="263238">
                    <a:alpha val="10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</a:t>
            </a:r>
            <a:r>
              <a:rPr 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多种信号融合为</a:t>
            </a:r>
            <a:r>
              <a:rPr lang="zh-CN" altLang="en-US" sz="1205" b="1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统一分数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s_{ij}∈[0,1]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，衡量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审稿人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 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评论文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 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的适配度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zh-CN" sz="1205" kern="0" dirty="0">
              <a:solidFill>
                <a:srgbClr val="26323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1295" eaLnBrk="0">
              <a:lnSpc>
                <a:spcPct val="92000"/>
              </a:lnSpc>
              <a:spcBef>
                <a:spcPts val="1280"/>
              </a:spcBef>
            </a:pPr>
            <a:r>
              <a:rPr lang="zh-CN" altLang="en-US" sz="1205" b="1" kern="0" dirty="0">
                <a:solidFill>
                  <a:srgbClr val="263238">
                    <a:alpha val="10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流程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1205" kern="0" dirty="0">
              <a:solidFill>
                <a:srgbClr val="26323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1295" eaLnBrk="0">
              <a:lnSpc>
                <a:spcPct val="92000"/>
              </a:lnSpc>
              <a:spcBef>
                <a:spcPts val="1280"/>
              </a:spcBef>
            </a:pPr>
            <a:r>
              <a:rPr lang="en-US" altLang="zh-CN" sz="1205" b="1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SAM </a:t>
            </a:r>
            <a:r>
              <a:rPr lang="zh-CN" altLang="en-US" sz="1205" b="1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主题匹配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Sec. 2.3.1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）：基于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论文主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次关键词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×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审稿人主题向量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计算匹配度；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对审稿人主题用共现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父子类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本人论文主题进行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稀疏</a:t>
            </a:r>
            <a:r>
              <a:rPr lang="en-US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致密</a:t>
            </a:r>
            <a:r>
              <a:rPr lang="en-US" altLang="zh-CN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5" kern="0" dirty="0">
                <a:solidFill>
                  <a:srgbClr val="26323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推断，避免只依赖显式填报</a:t>
            </a:r>
            <a:endParaRPr lang="zh-CN" altLang="en-US" sz="1205" kern="0" dirty="0">
              <a:solidFill>
                <a:srgbClr val="26323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01295" eaLnBrk="0">
              <a:lnSpc>
                <a:spcPct val="92000"/>
              </a:lnSpc>
              <a:spcBef>
                <a:spcPts val="1280"/>
              </a:spcBef>
            </a:pPr>
            <a:r>
              <a:rPr lang="zh-CN" altLang="en-US" sz="120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分数归一化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Sec. 2.3.2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）：将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TPMS/ACL/SAM 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各自映射到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0–1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；做人工标注回归以统一量纲，便于后续软约束权重可比</a:t>
            </a:r>
            <a:endParaRPr lang="zh-CN" altLang="en-US" sz="120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1295" eaLnBrk="0">
              <a:lnSpc>
                <a:spcPct val="92000"/>
              </a:lnSpc>
              <a:spcBef>
                <a:spcPts val="1280"/>
              </a:spcBef>
            </a:pPr>
            <a:r>
              <a:rPr lang="zh-CN" altLang="en-US" sz="120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分数组合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Sec. 2.3.3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）：按可用性加权合并（缺失时做退化合并，确保鲁棒）</a:t>
            </a:r>
            <a:endParaRPr lang="zh-CN" altLang="en-US" sz="120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1295" eaLnBrk="0">
              <a:lnSpc>
                <a:spcPct val="92000"/>
              </a:lnSpc>
              <a:spcBef>
                <a:spcPts val="1280"/>
              </a:spcBef>
            </a:pPr>
            <a:r>
              <a:rPr lang="zh-CN" altLang="en-US" sz="120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投标指数化调整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Sec. 2.3.4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aggscore = (Base Aggregated Score)^{bidscore}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，用</a:t>
            </a:r>
            <a:r>
              <a:rPr lang="zh-CN" altLang="en-US" sz="120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幂次映射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体现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兴趣对足够合格者加分、不合格者难靠投标抬分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的原则</a:t>
            </a:r>
            <a:endParaRPr lang="zh-CN" altLang="en-US" sz="120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1295" eaLnBrk="0">
              <a:lnSpc>
                <a:spcPct val="92000"/>
              </a:lnSpc>
              <a:spcBef>
                <a:spcPts val="1280"/>
              </a:spcBef>
            </a:pPr>
            <a:r>
              <a:rPr lang="zh-CN" altLang="en-US" sz="120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低分清理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Sec. 2.3.5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）：对极低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aggscore 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的配对，以</a:t>
            </a:r>
            <a:r>
              <a:rPr lang="en-US" altLang="zh-CN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SAM </a:t>
            </a:r>
            <a:r>
              <a:rPr lang="zh-CN" altLang="en-US" sz="120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为底限做保护，避免离谱分配</a:t>
            </a:r>
            <a:endParaRPr lang="zh-CN" altLang="en-US" sz="120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1295" eaLnBrk="0">
              <a:lnSpc>
                <a:spcPct val="72000"/>
              </a:lnSpc>
              <a:spcBef>
                <a:spcPts val="1280"/>
              </a:spcBef>
            </a:pPr>
            <a:endParaRPr lang="zh-CN" altLang="en-US" sz="120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672070" y="4822825"/>
            <a:ext cx="4710430" cy="3911600"/>
          </a:xfrm>
          <a:prstGeom prst="rect">
            <a:avLst/>
          </a:prstGeom>
          <a:solidFill>
            <a:srgbClr val="E3F2F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9000"/>
              </a:lnSpc>
            </a:pPr>
            <a:endParaRPr sz="80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5895" eaLnBrk="0">
              <a:lnSpc>
                <a:spcPts val="2035"/>
              </a:lnSpc>
              <a:spcBef>
                <a:spcPts val="0"/>
              </a:spcBef>
              <a:tabLst>
                <a:tab pos="336550" algn="l"/>
              </a:tabLst>
            </a:pPr>
            <a:r>
              <a:rPr sz="1445" kern="0" dirty="0">
                <a:solidFill>
                  <a:srgbClr val="1565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1445" kern="0" spc="32" dirty="0">
                <a:solidFill>
                  <a:srgbClr val="1565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lang="en-US" sz="1445" kern="0" spc="32" dirty="0">
                <a:solidFill>
                  <a:srgbClr val="1565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lang="zh-CN" altLang="en-US" sz="1690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双阶段评审机制</a:t>
            </a:r>
            <a:r>
              <a:rPr lang="en-US" altLang="zh-CN" sz="1690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[4]</a:t>
            </a:r>
            <a:r>
              <a:rPr lang="en-US" altLang="zh-CN" sz="1400" i="1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 </a:t>
            </a:r>
            <a:r>
              <a:rPr lang="zh-CN" altLang="en-US" sz="1400" i="1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与整体流程并行</a:t>
            </a:r>
            <a:r>
              <a:rPr lang="en-US" altLang="zh-CN" sz="1400" i="1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)</a:t>
            </a:r>
            <a:endParaRPr lang="zh-CN" altLang="en-US" sz="1690" dirty="0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5895" eaLnBrk="0">
              <a:lnSpc>
                <a:spcPts val="2035"/>
              </a:lnSpc>
              <a:spcBef>
                <a:spcPts val="0"/>
              </a:spcBef>
              <a:tabLst>
                <a:tab pos="336550" algn="l"/>
              </a:tab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把评审拆成两段，节省下的评审资源投到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边界论文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以降低决策方差。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5895" eaLnBrk="0">
              <a:lnSpc>
                <a:spcPts val="2035"/>
              </a:lnSpc>
              <a:spcBef>
                <a:spcPts val="0"/>
              </a:spcBef>
              <a:tabLst>
                <a:tab pos="336550" algn="l"/>
              </a:tabLst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5895" eaLnBrk="0">
              <a:lnSpc>
                <a:spcPts val="2035"/>
              </a:lnSpc>
              <a:spcBef>
                <a:spcPts val="0"/>
              </a:spcBef>
              <a:tabLst>
                <a:tab pos="336550" algn="l"/>
              </a:tabLst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初筛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5895" eaLnBrk="0">
              <a:lnSpc>
                <a:spcPts val="2035"/>
              </a:lnSpc>
              <a:spcBef>
                <a:spcPts val="0"/>
              </a:spcBef>
              <a:tabLst>
                <a:tab pos="336550" algn="l"/>
              </a:tab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每篇先分配较少评审（论文中实践为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）。若两份评审都高置信度且建议拒稿，则直接在第一阶段拒稿，并把两份完整评审给作者。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5895" eaLnBrk="0">
              <a:lnSpc>
                <a:spcPts val="2035"/>
              </a:lnSpc>
              <a:spcBef>
                <a:spcPts val="0"/>
              </a:spcBef>
              <a:tabLst>
                <a:tab pos="336550" algn="l"/>
              </a:tabLst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深入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5895" eaLnBrk="0">
              <a:lnSpc>
                <a:spcPts val="2035"/>
              </a:lnSpc>
              <a:spcBef>
                <a:spcPts val="0"/>
              </a:spcBef>
              <a:tabLst>
                <a:tab pos="336550" algn="l"/>
              </a:tab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对剩余论文补充评审（论文中把总评审数提升到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≥4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），收集作者申辩，审稿人互读互评并讨论，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AC/SPC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统筹后由主席定案。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5895" eaLnBrk="0">
              <a:lnSpc>
                <a:spcPts val="2035"/>
              </a:lnSpc>
              <a:spcBef>
                <a:spcPts val="0"/>
              </a:spcBef>
              <a:tabLst>
                <a:tab pos="336550" algn="l"/>
              </a:tabLst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MIP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互动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5895" eaLnBrk="0">
              <a:lnSpc>
                <a:spcPts val="2035"/>
              </a:lnSpc>
              <a:spcBef>
                <a:spcPts val="0"/>
              </a:spcBef>
              <a:tabLst>
                <a:tab pos="336550" algn="l"/>
              </a:tab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可在两阶段分别执行匹配（每阶段规模更小、求解更快）；也支持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多阶段指派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作为纯计算手段（即便会议组织上不是双阶段）。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5895" eaLnBrk="0">
              <a:lnSpc>
                <a:spcPts val="2035"/>
              </a:lnSpc>
              <a:spcBef>
                <a:spcPts val="0"/>
              </a:spcBef>
              <a:tabLst>
                <a:tab pos="336550" algn="l"/>
              </a:tabLst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251" y="461393"/>
            <a:ext cx="6474758" cy="515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75005" algn="l" rtl="0" eaLnBrk="0">
              <a:lnSpc>
                <a:spcPct val="92000"/>
              </a:lnSpc>
              <a:spcBef>
                <a:spcPts val="5"/>
              </a:spcBef>
            </a:pPr>
            <a:r>
              <a:rPr lang="en-US" altLang="zh-CN" sz="30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LCM</a:t>
            </a:r>
            <a:r>
              <a:rPr lang="zh-CN" altLang="en-US" sz="30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 altLang="en-US"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2000"/>
                    </a14:imgEffect>
                    <a14:imgEffect>
                      <a14:colorTemperature colorTemp="5789"/>
                    </a14:imgEffect>
                    <a14:imgEffect>
                      <a14:saturation sat="10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2338" y="219646"/>
            <a:ext cx="815655" cy="815655"/>
          </a:xfrm>
          <a:prstGeom prst="rect">
            <a:avLst/>
          </a:prstGeom>
          <a:noFill/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182" l="21872" r="100000">
                        <a14:foregroundMark x1="32753" y1="31364" x2="32753" y2="31364"/>
                        <a14:foregroundMark x1="52339" y1="32727" x2="52339" y2="32727"/>
                        <a14:foregroundMark x1="58868" y1="54091" x2="58868" y2="54091"/>
                        <a14:foregroundMark x1="64635" y1="35000" x2="64635" y2="35000"/>
                        <a14:foregroundMark x1="78346" y1="32273" x2="78346" y2="32273"/>
                        <a14:foregroundMark x1="97062" y1="33182" x2="97062" y2="33182"/>
                        <a14:foregroundMark x1="90533" y1="27727" x2="90533" y2="27727"/>
                        <a14:foregroundMark x1="94559" y1="55455" x2="94559" y2="55455"/>
                        <a14:backgroundMark x1="94233" y1="22273" x2="94233" y2="22273"/>
                        <a14:backgroundMark x1="95756" y1="14545" x2="95756" y2="14545"/>
                        <a14:backgroundMark x1="95539" y1="29091" x2="95539" y2="29091"/>
                        <a14:backgroundMark x1="93254" y1="29091" x2="93254" y2="29091"/>
                        <a14:backgroundMark x1="92927" y1="20909" x2="92927" y2="20909"/>
                        <a14:backgroundMark x1="94015" y1="33636" x2="94015" y2="33636"/>
                        <a14:backgroundMark x1="41893" y1="40455" x2="41893" y2="40455"/>
                        <a14:backgroundMark x1="96627" y1="19545" x2="96627" y2="19545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745"/>
          <a:stretch>
            <a:fillRect/>
          </a:stretch>
        </p:blipFill>
        <p:spPr>
          <a:xfrm>
            <a:off x="8827993" y="287792"/>
            <a:ext cx="2886952" cy="894586"/>
          </a:xfrm>
          <a:prstGeom prst="rect">
            <a:avLst/>
          </a:prstGeom>
        </p:spPr>
      </p:pic>
      <p:pic>
        <p:nvPicPr>
          <p:cNvPr id="3" name="图片 2" descr="_page_2_Figure_2"/>
          <p:cNvPicPr>
            <a:picLocks noChangeAspect="1"/>
          </p:cNvPicPr>
          <p:nvPr/>
        </p:nvPicPr>
        <p:blipFill>
          <a:blip r:embed="rId6"/>
          <a:srcRect l="4141" t="28536" r="48534" b="57053"/>
          <a:stretch>
            <a:fillRect/>
          </a:stretch>
        </p:blipFill>
        <p:spPr>
          <a:xfrm>
            <a:off x="4845050" y="3053715"/>
            <a:ext cx="2140585" cy="1016000"/>
          </a:xfrm>
          <a:prstGeom prst="rect">
            <a:avLst/>
          </a:prstGeom>
        </p:spPr>
      </p:pic>
      <p:pic>
        <p:nvPicPr>
          <p:cNvPr id="9" name="图片 8" descr="_page_2_Figure_2"/>
          <p:cNvPicPr>
            <a:picLocks noChangeAspect="1"/>
          </p:cNvPicPr>
          <p:nvPr/>
        </p:nvPicPr>
        <p:blipFill>
          <a:blip r:embed="rId6"/>
          <a:srcRect b="71118"/>
          <a:stretch>
            <a:fillRect/>
          </a:stretch>
        </p:blipFill>
        <p:spPr>
          <a:xfrm>
            <a:off x="3886200" y="1357630"/>
            <a:ext cx="3355340" cy="1510030"/>
          </a:xfrm>
          <a:prstGeom prst="rect">
            <a:avLst/>
          </a:prstGeom>
        </p:spPr>
      </p:pic>
      <p:pic>
        <p:nvPicPr>
          <p:cNvPr id="11" name="图片 10" descr="_page_2_Figure_2"/>
          <p:cNvPicPr>
            <a:picLocks noChangeAspect="1"/>
          </p:cNvPicPr>
          <p:nvPr/>
        </p:nvPicPr>
        <p:blipFill>
          <a:blip r:embed="rId6"/>
          <a:srcRect l="52788" t="30059" r="5959" b="56294"/>
          <a:stretch>
            <a:fillRect/>
          </a:stretch>
        </p:blipFill>
        <p:spPr>
          <a:xfrm>
            <a:off x="2689225" y="4204970"/>
            <a:ext cx="1714500" cy="883920"/>
          </a:xfrm>
          <a:prstGeom prst="rect">
            <a:avLst/>
          </a:prstGeom>
        </p:spPr>
      </p:pic>
      <p:pic>
        <p:nvPicPr>
          <p:cNvPr id="12" name="图片 11" descr="_page_2_Figure_2"/>
          <p:cNvPicPr>
            <a:picLocks noChangeAspect="1"/>
          </p:cNvPicPr>
          <p:nvPr/>
        </p:nvPicPr>
        <p:blipFill>
          <a:blip r:embed="rId6"/>
          <a:srcRect l="9549" t="46039" r="22659" b="2686"/>
          <a:stretch>
            <a:fillRect/>
          </a:stretch>
        </p:blipFill>
        <p:spPr>
          <a:xfrm>
            <a:off x="4892675" y="4555490"/>
            <a:ext cx="2817495" cy="33210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1" y="938783"/>
            <a:ext cx="12380976" cy="7048500"/>
          </a:xfrm>
          <a:prstGeom prst="rect">
            <a:avLst/>
          </a:prstGeom>
        </p:spPr>
      </p:pic>
      <p:sp>
        <p:nvSpPr>
          <p:cNvPr id="190" name="textbox 190"/>
          <p:cNvSpPr/>
          <p:nvPr/>
        </p:nvSpPr>
        <p:spPr>
          <a:xfrm>
            <a:off x="781685" y="1073150"/>
            <a:ext cx="4404360" cy="632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lang="zh-CN" altLang="en-US" sz="30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论文可拓展点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0045" algn="l" rtl="0" eaLnBrk="0">
              <a:lnSpc>
                <a:spcPts val="2120"/>
              </a:lnSpc>
              <a:spcBef>
                <a:spcPts val="480"/>
              </a:spcBef>
              <a:tabLst>
                <a:tab pos="605155" algn="l"/>
              </a:tabLst>
            </a:pPr>
            <a:r>
              <a:rPr sz="1600" kern="0" spc="0" dirty="0">
                <a:solidFill>
                  <a:srgbClr val="1A4B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600" kern="0" spc="70" dirty="0">
                <a:solidFill>
                  <a:srgbClr val="1A4B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82270" algn="l" rtl="0" eaLnBrk="0">
              <a:lnSpc>
                <a:spcPts val="2120"/>
              </a:lnSpc>
              <a:spcBef>
                <a:spcPts val="480"/>
              </a:spcBef>
              <a:tabLst>
                <a:tab pos="581660" algn="l"/>
              </a:tabLst>
            </a:pPr>
            <a:r>
              <a:rPr sz="1600" kern="0" spc="0" dirty="0">
                <a:solidFill>
                  <a:srgbClr val="1A4B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600" kern="0" spc="90" dirty="0">
                <a:solidFill>
                  <a:srgbClr val="1A4B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endParaRPr sz="2300" baseline="10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1069975" y="2620010"/>
            <a:ext cx="4810125" cy="2210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altLang="en-US" kern="0" spc="30" dirty="0">
                <a:solidFill>
                  <a:srgbClr val="1A4B8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可探索更强的对抗性建模与威胁分析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2000"/>
              </a:lnSpc>
            </a:pPr>
            <a:r>
              <a:rPr lang="en-US" altLang="zh-CN" sz="16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altLang="en-US" sz="16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联合建模</a:t>
            </a:r>
            <a:r>
              <a:rPr lang="zh-CN" altLang="en-US" sz="1600" b="1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跨会议</a:t>
            </a:r>
            <a:r>
              <a:rPr lang="zh-CN" altLang="en-US" sz="16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的协同操纵</a:t>
            </a:r>
            <a:r>
              <a:rPr lang="en-US" altLang="zh-CN" sz="16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endParaRPr lang="zh-CN" altLang="en-US" sz="1600" kern="0" spc="3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66700" algn="l" rtl="0" eaLnBrk="0">
              <a:lnSpc>
                <a:spcPts val="2120"/>
              </a:lnSpc>
              <a:spcBef>
                <a:spcPts val="450"/>
              </a:spcBef>
              <a:tabLst>
                <a:tab pos="488950" algn="l"/>
              </a:tabLst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作者可能通过虚假投标、冲突申报等方式操控匹配，论文仅用启发式过滤，缺乏系统性防御与理论分析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17475" algn="l" rtl="0" eaLnBrk="0">
              <a:lnSpc>
                <a:spcPts val="2120"/>
              </a:lnSpc>
              <a:tabLst>
                <a:tab pos="339090" algn="l"/>
              </a:tabLst>
            </a:pP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17475" algn="l" rtl="0" eaLnBrk="0">
              <a:lnSpc>
                <a:spcPts val="2120"/>
              </a:lnSpc>
              <a:tabLst>
                <a:tab pos="339090" algn="l"/>
              </a:tabLst>
            </a:pPr>
            <a:r>
              <a:rPr 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==&gt; 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构建模拟环境，设计多种攻击者模型</a:t>
            </a:r>
            <a:endParaRPr lang="zh-CN" alt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2000"/>
                    </a14:imgEffect>
                    <a14:imgEffect>
                      <a14:colorTemperature colorTemp="5789"/>
                    </a14:imgEffect>
                    <a14:imgEffect>
                      <a14:saturation sat="10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52679" y="1114845"/>
            <a:ext cx="815655" cy="815655"/>
          </a:xfrm>
          <a:prstGeom prst="rect">
            <a:avLst/>
          </a:prstGeom>
          <a:noFill/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182" l="21872" r="100000">
                        <a14:foregroundMark x1="32753" y1="31364" x2="32753" y2="31364"/>
                        <a14:foregroundMark x1="52339" y1="32727" x2="52339" y2="32727"/>
                        <a14:foregroundMark x1="58868" y1="54091" x2="58868" y2="54091"/>
                        <a14:foregroundMark x1="64635" y1="35000" x2="64635" y2="35000"/>
                        <a14:foregroundMark x1="78346" y1="32273" x2="78346" y2="32273"/>
                        <a14:foregroundMark x1="97062" y1="33182" x2="97062" y2="33182"/>
                        <a14:foregroundMark x1="90533" y1="27727" x2="90533" y2="27727"/>
                        <a14:foregroundMark x1="94559" y1="55455" x2="94559" y2="55455"/>
                        <a14:backgroundMark x1="94233" y1="22273" x2="94233" y2="22273"/>
                        <a14:backgroundMark x1="95756" y1="14545" x2="95756" y2="14545"/>
                        <a14:backgroundMark x1="95539" y1="29091" x2="95539" y2="29091"/>
                        <a14:backgroundMark x1="93254" y1="29091" x2="93254" y2="29091"/>
                        <a14:backgroundMark x1="92927" y1="20909" x2="92927" y2="20909"/>
                        <a14:backgroundMark x1="94015" y1="33636" x2="94015" y2="33636"/>
                        <a14:backgroundMark x1="41893" y1="40455" x2="41893" y2="40455"/>
                        <a14:backgroundMark x1="96627" y1="19545" x2="96627" y2="19545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745"/>
          <a:stretch>
            <a:fillRect/>
          </a:stretch>
        </p:blipFill>
        <p:spPr>
          <a:xfrm>
            <a:off x="8908031" y="1114845"/>
            <a:ext cx="2886952" cy="894586"/>
          </a:xfrm>
          <a:prstGeom prst="rect">
            <a:avLst/>
          </a:prstGeom>
        </p:spPr>
      </p:pic>
      <p:sp>
        <p:nvSpPr>
          <p:cNvPr id="4" name="textbox 212"/>
          <p:cNvSpPr/>
          <p:nvPr/>
        </p:nvSpPr>
        <p:spPr>
          <a:xfrm>
            <a:off x="1069975" y="5318760"/>
            <a:ext cx="4810125" cy="2235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altLang="en-US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软约束权重自动学习与调参</a:t>
            </a:r>
            <a:endParaRPr lang="zh-CN" altLang="en-US" dirty="0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2000"/>
              </a:lnSpc>
            </a:pPr>
            <a:endParaRPr lang="zh-CN" altLang="en-US" sz="700" kern="0" spc="3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66700" algn="l" rtl="0" eaLnBrk="0">
              <a:lnSpc>
                <a:spcPts val="2120"/>
              </a:lnSpc>
              <a:spcBef>
                <a:spcPts val="450"/>
              </a:spcBef>
              <a:tabLst>
                <a:tab pos="488950" algn="l"/>
              </a:tabLst>
            </a:pP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当前软约束（如资历、地域、合作者距离等）权重依赖人工经验，难以适应不同会议需求</a:t>
            </a:r>
            <a:endParaRPr lang="zh-CN" alt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17475" algn="l" rtl="0" eaLnBrk="0">
              <a:lnSpc>
                <a:spcPts val="2120"/>
              </a:lnSpc>
              <a:tabLst>
                <a:tab pos="339090" algn="l"/>
              </a:tabLst>
            </a:pPr>
            <a:r>
              <a:rPr 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==&gt; </a:t>
            </a:r>
            <a:r>
              <a:rPr lang="zh-CN" altLang="en-US" sz="15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利用历史会议数据，设定多目标优化框架，自动调整软约束权重以最优平衡质量与公平</a:t>
            </a:r>
            <a:endParaRPr lang="zh-CN" altLang="en-US" sz="1500" kern="0" spc="3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17475" algn="l" rtl="0" eaLnBrk="0">
              <a:lnSpc>
                <a:spcPts val="2120"/>
              </a:lnSpc>
              <a:tabLst>
                <a:tab pos="339090" algn="l"/>
              </a:tabLst>
            </a:pPr>
            <a:endParaRPr lang="zh-CN" alt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17475" algn="l" rtl="0" eaLnBrk="0">
              <a:lnSpc>
                <a:spcPts val="2120"/>
              </a:lnSpc>
              <a:tabLst>
                <a:tab pos="339090" algn="l"/>
              </a:tabLst>
            </a:pP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应用贝叶斯优化、强化学习或可微松弛方法，端到端学习权重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212"/>
          <p:cNvSpPr/>
          <p:nvPr/>
        </p:nvSpPr>
        <p:spPr>
          <a:xfrm>
            <a:off x="6505575" y="2545715"/>
            <a:ext cx="4810125" cy="2235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altLang="en-US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公平性与多目标优化</a:t>
            </a:r>
            <a:endParaRPr lang="zh-CN" altLang="en-US" dirty="0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2000"/>
              </a:lnSpc>
            </a:pPr>
            <a:endParaRPr lang="zh-CN" altLang="en-US" sz="700" kern="0" spc="3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66700" algn="l" rtl="0" eaLnBrk="0">
              <a:lnSpc>
                <a:spcPts val="2120"/>
              </a:lnSpc>
              <a:spcBef>
                <a:spcPts val="450"/>
              </a:spcBef>
              <a:tabLst>
                <a:tab pos="488950" algn="l"/>
              </a:tabLst>
            </a:pP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论文仅简单考虑地域多样性，未系统分析群体公平、代表性等</a:t>
            </a:r>
            <a:endParaRPr lang="zh-CN" alt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algn="l" rtl="0" eaLnBrk="0">
              <a:lnSpc>
                <a:spcPts val="2120"/>
              </a:lnSpc>
              <a:spcBef>
                <a:spcPts val="450"/>
              </a:spcBef>
              <a:tabLst>
                <a:tab pos="488950" algn="l"/>
              </a:tabLst>
            </a:pPr>
            <a:r>
              <a:rPr 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==&gt; </a:t>
            </a:r>
            <a:r>
              <a:rPr lang="zh-CN" altLang="en-US" sz="15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定义多维公平指标（如性别、地区、学段），引入多目标优化或带约束</a:t>
            </a:r>
            <a:r>
              <a:rPr lang="en-US" altLang="zh-CN" sz="15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MIP</a:t>
            </a:r>
            <a:endParaRPr lang="en-US" altLang="zh-CN" sz="1500" kern="0" spc="3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17475" algn="l" rtl="0" eaLnBrk="0">
              <a:lnSpc>
                <a:spcPts val="2120"/>
              </a:lnSpc>
              <a:tabLst>
                <a:tab pos="339090" algn="l"/>
              </a:tabLst>
            </a:pPr>
            <a:endParaRPr lang="zh-CN" alt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17475" algn="l" rtl="0" eaLnBrk="0">
              <a:lnSpc>
                <a:spcPts val="2120"/>
              </a:lnSpc>
              <a:tabLst>
                <a:tab pos="339090" algn="l"/>
              </a:tabLst>
            </a:pP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可能的困难：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需获得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保护敏感群体标签、公平与质量目标冲突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212"/>
          <p:cNvSpPr/>
          <p:nvPr/>
        </p:nvSpPr>
        <p:spPr>
          <a:xfrm>
            <a:off x="6245225" y="5269865"/>
            <a:ext cx="5499735" cy="2235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altLang="zh-CN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</a:t>
            </a:r>
            <a:r>
              <a:rPr lang="en-US" altLang="zh-CN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dirty="0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增量匹配与鲁棒重分配</a:t>
            </a:r>
            <a:endParaRPr lang="zh-CN" altLang="en-US" dirty="0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2000"/>
              </a:lnSpc>
            </a:pPr>
            <a:endParaRPr lang="zh-CN" altLang="en-US" sz="700" kern="0" spc="3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66700" algn="l" rtl="0" eaLnBrk="0">
              <a:lnSpc>
                <a:spcPts val="2120"/>
              </a:lnSpc>
              <a:spcBef>
                <a:spcPts val="450"/>
              </a:spcBef>
              <a:tabLst>
                <a:tab pos="488950" algn="l"/>
              </a:tabLst>
            </a:pP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实际流程中评审缺席、撤稿等动态事件频发，需支持在线调整</a:t>
            </a:r>
            <a:endParaRPr lang="zh-CN" alt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algn="l" rtl="0" eaLnBrk="0">
              <a:lnSpc>
                <a:spcPts val="2120"/>
              </a:lnSpc>
              <a:spcBef>
                <a:spcPts val="450"/>
              </a:spcBef>
              <a:tabLst>
                <a:tab pos="488950" algn="l"/>
              </a:tabLst>
            </a:pPr>
            <a:r>
              <a:rPr 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==&gt; </a:t>
            </a:r>
            <a:r>
              <a:rPr lang="zh-CN" altLang="en-US" sz="15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设计局部重分配算法，最小化已完成评审扰动</a:t>
            </a:r>
            <a:endParaRPr lang="zh-CN" altLang="en-US" sz="1500" kern="0" spc="3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66700" algn="l" rtl="0" eaLnBrk="0">
              <a:lnSpc>
                <a:spcPts val="2120"/>
              </a:lnSpc>
              <a:spcBef>
                <a:spcPts val="450"/>
              </a:spcBef>
              <a:tabLst>
                <a:tab pos="488950" algn="l"/>
              </a:tabLst>
            </a:pPr>
            <a:r>
              <a:rPr lang="en-US" altLang="zh-CN" sz="15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==&gt;</a:t>
            </a:r>
            <a:r>
              <a:rPr lang="zh-CN" altLang="en-US" sz="15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引入</a:t>
            </a:r>
            <a:r>
              <a:rPr lang="en-US" altLang="zh-CN" sz="15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5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松弛预算</a:t>
            </a:r>
            <a:r>
              <a:rPr lang="en-US" altLang="zh-CN" sz="15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500" kern="0" spc="3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或惩罚项，平衡稳定性与全局最优</a:t>
            </a:r>
            <a:endParaRPr lang="zh-CN" altLang="en-US" sz="1500" kern="0" spc="3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17475" algn="l" rtl="0" eaLnBrk="0">
              <a:lnSpc>
                <a:spcPts val="2120"/>
              </a:lnSpc>
              <a:tabLst>
                <a:tab pos="339090" algn="l"/>
              </a:tabLst>
            </a:pPr>
            <a:endParaRPr lang="zh-CN" alt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17475" algn="l" rtl="0" eaLnBrk="0">
              <a:lnSpc>
                <a:spcPts val="2120"/>
              </a:lnSpc>
              <a:tabLst>
                <a:tab pos="339090" algn="l"/>
              </a:tabLst>
            </a:pP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可能的评估指标：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响应时间、扰动比例、目标损失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939546"/>
            <a:ext cx="12382500" cy="70485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-422910" y="3577590"/>
            <a:ext cx="12016740" cy="4284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358900" algn="ctr" eaLnBrk="0">
              <a:lnSpc>
                <a:spcPct val="81000"/>
              </a:lnSpc>
            </a:pPr>
            <a:r>
              <a:rPr lang="en-US" altLang="zh-CN" sz="6600" b="1" kern="0" spc="-1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Thx!   :)</a:t>
            </a:r>
            <a:endParaRPr lang="zh-CN" altLang="en-US" sz="6600" b="1" kern="0" spc="-140" dirty="0">
              <a:solidFill>
                <a:srgbClr val="FFFFFF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58900" algn="ctr" eaLnBrk="0">
              <a:lnSpc>
                <a:spcPct val="81000"/>
              </a:lnSpc>
            </a:pPr>
            <a:endParaRPr sz="4800" kern="0" spc="10" dirty="0" err="1">
              <a:solidFill>
                <a:schemeClr val="bg2">
                  <a:lumMod val="90000"/>
                  <a:alpha val="10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58900" algn="l" eaLnBrk="0">
              <a:lnSpc>
                <a:spcPct val="81000"/>
              </a:lnSpc>
            </a:pPr>
            <a:r>
              <a:rPr lang="en-US" sz="4800" kern="0" spc="10" dirty="0" err="1">
                <a:solidFill>
                  <a:schemeClr val="bg2">
                    <a:lumMod val="90000"/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         </a:t>
            </a:r>
            <a:endParaRPr sz="4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 rtl="0" eaLnBrk="0">
              <a:lnSpc>
                <a:spcPct val="109000"/>
              </a:lnSpc>
            </a:pP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110000"/>
              </a:lnSpc>
            </a:pPr>
            <a:endParaRPr lang="zh-CN" altLang="en-US" sz="4000" kern="0" spc="-1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110000"/>
              </a:lnSpc>
            </a:pPr>
            <a:endParaRPr lang="zh-CN" altLang="en-US" sz="4000" kern="0" spc="-1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110000"/>
              </a:lnSpc>
            </a:pPr>
            <a:endParaRPr lang="zh-CN" altLang="en-US" sz="4000" kern="0" spc="-1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110000"/>
              </a:lnSpc>
            </a:pPr>
            <a:endParaRPr lang="zh-CN" altLang="en-US" sz="4000" kern="0" spc="-1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110000"/>
              </a:lnSpc>
            </a:pPr>
            <a:endParaRPr lang="zh-CN" altLang="en-US" sz="4000" kern="0" spc="-1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110000"/>
              </a:lnSpc>
            </a:pPr>
            <a:endParaRPr lang="zh-CN" altLang="en-US" sz="4000" kern="0" spc="-1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110000"/>
              </a:lnSpc>
            </a:pPr>
            <a:endParaRPr lang="zh-CN" altLang="en-US" sz="4000" kern="0" spc="-1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2000"/>
                    </a14:imgEffect>
                    <a14:imgEffect>
                      <a14:colorTemperature colorTemp="5789"/>
                    </a14:imgEffect>
                    <a14:imgEffect>
                      <a14:saturation sat="10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52679" y="1114845"/>
            <a:ext cx="815655" cy="815655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182" l="21872" r="100000">
                        <a14:foregroundMark x1="32753" y1="31364" x2="32753" y2="31364"/>
                        <a14:foregroundMark x1="52339" y1="32727" x2="52339" y2="32727"/>
                        <a14:foregroundMark x1="58868" y1="54091" x2="58868" y2="54091"/>
                        <a14:foregroundMark x1="64635" y1="35000" x2="64635" y2="35000"/>
                        <a14:foregroundMark x1="78346" y1="32273" x2="78346" y2="32273"/>
                        <a14:foregroundMark x1="97062" y1="33182" x2="97062" y2="33182"/>
                        <a14:foregroundMark x1="90533" y1="27727" x2="90533" y2="27727"/>
                        <a14:foregroundMark x1="94559" y1="55455" x2="94559" y2="55455"/>
                        <a14:backgroundMark x1="94233" y1="22273" x2="94233" y2="22273"/>
                        <a14:backgroundMark x1="95756" y1="14545" x2="95756" y2="14545"/>
                        <a14:backgroundMark x1="95539" y1="29091" x2="95539" y2="29091"/>
                        <a14:backgroundMark x1="93254" y1="29091" x2="93254" y2="29091"/>
                        <a14:backgroundMark x1="92927" y1="20909" x2="92927" y2="20909"/>
                        <a14:backgroundMark x1="94015" y1="33636" x2="94015" y2="33636"/>
                        <a14:backgroundMark x1="41893" y1="40455" x2="41893" y2="40455"/>
                        <a14:backgroundMark x1="96627" y1="19545" x2="96627" y2="19545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745"/>
          <a:stretch>
            <a:fillRect/>
          </a:stretch>
        </p:blipFill>
        <p:spPr>
          <a:xfrm>
            <a:off x="8908031" y="1114845"/>
            <a:ext cx="2886952" cy="89458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41345" y="7401560"/>
            <a:ext cx="64077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olidFill>
                  <a:schemeClr val="bg1"/>
                </a:solidFill>
                <a:sym typeface="+mn-ea"/>
              </a:rPr>
              <a:t>https://github.com/ChrisCameron1/LargeConferenceMatching</a:t>
            </a:r>
            <a:endParaRPr lang="en-US" altLang="zh-CN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TABLE_ENDDRAG_ORIGIN_RECT" val="774*6"/>
  <p:tag name="TABLE_ENDDRAG_RECT" val="82*553*774*6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2581</Words>
  <Application>WPS 演示</Application>
  <PresentationFormat>自定义</PresentationFormat>
  <Paragraphs>200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Arial</vt:lpstr>
      <vt:lpstr>黑体</vt:lpstr>
      <vt:lpstr>Arial Unicode MS</vt:lpstr>
      <vt:lpstr>微软雅黑</vt:lpstr>
      <vt:lpstr>华文楷体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　</cp:lastModifiedBy>
  <cp:revision>25</cp:revision>
  <dcterms:created xsi:type="dcterms:W3CDTF">2025-09-28T11:26:00Z</dcterms:created>
  <dcterms:modified xsi:type="dcterms:W3CDTF">2025-10-15T10:11:42Z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2025-09-29T19:26:28Z</vt:filetime>
  </property>
  <property fmtid="{D5CDD505-2E9C-101B-9397-08002B2CF9AE}" pid="4" name="UsrData">
    <vt:lpwstr>5971bee0bed04cfd86d9983640a10761</vt:lpwstr>
  </property>
  <property fmtid="{D5CDD505-2E9C-101B-9397-08002B2CF9AE}" pid="5" name="AIGC">
    <vt:lpwstr>{"Label":"1","ContentProducer":"001191110108MA01KP2T5U00000","ProduceID":"5ee546c3-92b0-465b-bf04-6a0c13aaf178","ReservedCode1":"3046022100fa96ae691960f0301b2dfe1e5283df804e1ba3813962fd9c85b9d65b511f8821022100c534df9fc0e2aee2812155a3e24db52e1c47b31e706899bf2a56e9333a5d9496","ContentPropagator":"001191110108MA01KP2T5U00000","PropagateID":"5ee546c3-92b0-465b-bf04-6a0c13aaf178","ReservedCode2":"3046022100fa96ae691960f0301b2dfe1e5283df804e1ba3813962fd9c85b9d65b511f8821022100c534df9fc0e2aee2812155a3e24db52e1c47b31e706899bf2a56e9333a5d9496"}</vt:lpwstr>
  </property>
  <property fmtid="{D5CDD505-2E9C-101B-9397-08002B2CF9AE}" pid="6" name="ICV">
    <vt:lpwstr>32E0136435CC4BA4A63195E09CBE4906_13</vt:lpwstr>
  </property>
  <property fmtid="{D5CDD505-2E9C-101B-9397-08002B2CF9AE}" pid="7" name="KSOProductBuildVer">
    <vt:lpwstr>2052-12.1.0.23125</vt:lpwstr>
  </property>
</Properties>
</file>